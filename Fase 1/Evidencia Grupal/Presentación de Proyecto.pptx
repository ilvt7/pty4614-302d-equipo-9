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46147" y="2241118"/>
            <a:ext cx="7299705" cy="11050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1E293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4F46E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1E293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4F46E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1E293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1E293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952" y="436626"/>
            <a:ext cx="5078095" cy="443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1E293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4943" y="1736026"/>
            <a:ext cx="10017125" cy="2320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4F46E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hyperlink" Target="https://flexi-project.com/wp-content/uploads/2026/02/5-whys-method-a-simple-technique-to-reach-the-root-of-a-problem-1024x768.webp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1103" y="1902383"/>
            <a:ext cx="3666744" cy="31097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22501" y="2396616"/>
            <a:ext cx="8748395" cy="1303655"/>
          </a:xfrm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672715" marR="5080" indent="-2660650">
              <a:lnSpc>
                <a:spcPct val="101299"/>
              </a:lnSpc>
              <a:spcBef>
                <a:spcPts val="65"/>
              </a:spcBef>
            </a:pPr>
            <a:r>
              <a:rPr dirty="0" sz="4150" spc="-170">
                <a:solidFill>
                  <a:srgbClr val="0E172A"/>
                </a:solidFill>
              </a:rPr>
              <a:t>Título</a:t>
            </a:r>
            <a:r>
              <a:rPr dirty="0" sz="4150" spc="-415">
                <a:solidFill>
                  <a:srgbClr val="0E172A"/>
                </a:solidFill>
              </a:rPr>
              <a:t> </a:t>
            </a:r>
            <a:r>
              <a:rPr dirty="0" sz="4150" spc="-90">
                <a:solidFill>
                  <a:srgbClr val="0E172A"/>
                </a:solidFill>
              </a:rPr>
              <a:t>de</a:t>
            </a:r>
            <a:r>
              <a:rPr dirty="0" sz="4150" spc="-400">
                <a:solidFill>
                  <a:srgbClr val="0E172A"/>
                </a:solidFill>
              </a:rPr>
              <a:t> </a:t>
            </a:r>
            <a:r>
              <a:rPr dirty="0" sz="4150" spc="-50">
                <a:solidFill>
                  <a:srgbClr val="0E172A"/>
                </a:solidFill>
              </a:rPr>
              <a:t>la</a:t>
            </a:r>
            <a:r>
              <a:rPr dirty="0" sz="4150" spc="-450">
                <a:solidFill>
                  <a:srgbClr val="0E172A"/>
                </a:solidFill>
              </a:rPr>
              <a:t> </a:t>
            </a:r>
            <a:r>
              <a:rPr dirty="0" sz="4150" spc="-120">
                <a:solidFill>
                  <a:srgbClr val="0E172A"/>
                </a:solidFill>
              </a:rPr>
              <a:t>Propuesta</a:t>
            </a:r>
            <a:r>
              <a:rPr dirty="0" sz="4150" spc="-450">
                <a:solidFill>
                  <a:srgbClr val="0E172A"/>
                </a:solidFill>
              </a:rPr>
              <a:t> </a:t>
            </a:r>
            <a:r>
              <a:rPr dirty="0" sz="4150" spc="-120">
                <a:solidFill>
                  <a:srgbClr val="0E172A"/>
                </a:solidFill>
              </a:rPr>
              <a:t>o</a:t>
            </a:r>
            <a:r>
              <a:rPr dirty="0" sz="4150" spc="-484">
                <a:solidFill>
                  <a:srgbClr val="0E172A"/>
                </a:solidFill>
              </a:rPr>
              <a:t> </a:t>
            </a:r>
            <a:r>
              <a:rPr dirty="0" sz="4150" spc="-10">
                <a:solidFill>
                  <a:srgbClr val="0E172A"/>
                </a:solidFill>
              </a:rPr>
              <a:t>Nombre </a:t>
            </a:r>
            <a:r>
              <a:rPr dirty="0" sz="4150" spc="-95">
                <a:solidFill>
                  <a:srgbClr val="0E172A"/>
                </a:solidFill>
              </a:rPr>
              <a:t>del</a:t>
            </a:r>
            <a:r>
              <a:rPr dirty="0" sz="4150" spc="-509">
                <a:solidFill>
                  <a:srgbClr val="0E172A"/>
                </a:solidFill>
              </a:rPr>
              <a:t> </a:t>
            </a:r>
            <a:r>
              <a:rPr dirty="0" sz="4150" spc="-20">
                <a:solidFill>
                  <a:srgbClr val="0E172A"/>
                </a:solidFill>
              </a:rPr>
              <a:t>Proyecto</a:t>
            </a:r>
            <a:endParaRPr sz="4150"/>
          </a:p>
        </p:txBody>
      </p:sp>
      <p:sp>
        <p:nvSpPr>
          <p:cNvPr id="5" name="object 5"/>
          <p:cNvSpPr txBox="1"/>
          <p:nvPr/>
        </p:nvSpPr>
        <p:spPr>
          <a:xfrm>
            <a:off x="2831973" y="3826725"/>
            <a:ext cx="6520180" cy="666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1785" marR="5080" indent="-2839720">
              <a:lnSpc>
                <a:spcPct val="127499"/>
              </a:lnSpc>
              <a:spcBef>
                <a:spcPts val="95"/>
              </a:spcBef>
            </a:pP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Una</a:t>
            </a:r>
            <a:r>
              <a:rPr dirty="0" sz="1650" spc="-10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solución</a:t>
            </a:r>
            <a:r>
              <a:rPr dirty="0" sz="1650" spc="-13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enfocada</a:t>
            </a:r>
            <a:r>
              <a:rPr dirty="0" sz="1650" spc="-10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en</a:t>
            </a:r>
            <a:r>
              <a:rPr dirty="0" sz="1650" spc="-5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63748A"/>
                </a:solidFill>
                <a:latin typeface="Tahoma"/>
                <a:cs typeface="Tahoma"/>
              </a:rPr>
              <a:t>abordar</a:t>
            </a:r>
            <a:r>
              <a:rPr dirty="0" sz="1650" spc="-9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63748A"/>
                </a:solidFill>
                <a:latin typeface="Tahoma"/>
                <a:cs typeface="Tahoma"/>
              </a:rPr>
              <a:t>[desafío</a:t>
            </a:r>
            <a:r>
              <a:rPr dirty="0" sz="1650" spc="-7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o</a:t>
            </a:r>
            <a:r>
              <a:rPr dirty="0" sz="1650" spc="-6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problema</a:t>
            </a:r>
            <a:r>
              <a:rPr dirty="0" sz="1650" spc="-2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63748A"/>
                </a:solidFill>
                <a:latin typeface="Tahoma"/>
                <a:cs typeface="Tahoma"/>
              </a:rPr>
              <a:t>clave</a:t>
            </a:r>
            <a:r>
              <a:rPr dirty="0" sz="1650" spc="-7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en</a:t>
            </a:r>
            <a:r>
              <a:rPr dirty="0" sz="1650" spc="-6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63748A"/>
                </a:solidFill>
                <a:latin typeface="Tahoma"/>
                <a:cs typeface="Tahoma"/>
              </a:rPr>
              <a:t>breves palabras]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8728" y="4573168"/>
            <a:ext cx="5111496" cy="384149"/>
          </a:xfrm>
          <a:prstGeom prst="rect">
            <a:avLst/>
          </a:prstGeom>
        </p:spPr>
      </p:pic>
      <p:pic>
        <p:nvPicPr>
          <p:cNvPr id="9" name="object 9" descr="imag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8728" y="4810440"/>
            <a:ext cx="192024" cy="1377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33596" y="4764214"/>
            <a:ext cx="1452245" cy="579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1200" spc="-10">
                <a:solidFill>
                  <a:srgbClr val="63748A"/>
                </a:solidFill>
                <a:latin typeface="Tahoma"/>
                <a:cs typeface="Tahoma"/>
              </a:rPr>
              <a:t>Equipo:</a:t>
            </a:r>
            <a:r>
              <a:rPr dirty="0" sz="1200" spc="-4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63748A"/>
                </a:solidFill>
                <a:latin typeface="Tahoma"/>
                <a:cs typeface="Tahoma"/>
              </a:rPr>
              <a:t>Gabriel</a:t>
            </a:r>
            <a:r>
              <a:rPr dirty="0" sz="1200" spc="-6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63748A"/>
                </a:solidFill>
                <a:latin typeface="Tahoma"/>
                <a:cs typeface="Tahoma"/>
              </a:rPr>
              <a:t>Paiva </a:t>
            </a:r>
            <a:r>
              <a:rPr dirty="0" sz="1200">
                <a:solidFill>
                  <a:srgbClr val="63748A"/>
                </a:solidFill>
                <a:latin typeface="Tahoma"/>
                <a:cs typeface="Tahoma"/>
              </a:rPr>
              <a:t>Matias</a:t>
            </a:r>
            <a:r>
              <a:rPr dirty="0" sz="1200" spc="8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63748A"/>
                </a:solidFill>
                <a:latin typeface="Tahoma"/>
                <a:cs typeface="Tahoma"/>
              </a:rPr>
              <a:t>Castillo </a:t>
            </a:r>
            <a:r>
              <a:rPr dirty="0" sz="1200">
                <a:solidFill>
                  <a:srgbClr val="63748A"/>
                </a:solidFill>
                <a:latin typeface="Tahoma"/>
                <a:cs typeface="Tahoma"/>
              </a:rPr>
              <a:t>Gabriel</a:t>
            </a:r>
            <a:r>
              <a:rPr dirty="0" sz="1200" spc="-2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63748A"/>
                </a:solidFill>
                <a:latin typeface="Tahoma"/>
                <a:cs typeface="Tahoma"/>
              </a:rPr>
              <a:t>Cares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0" name="object 10" descr="image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63640" y="4819048"/>
            <a:ext cx="192024" cy="12051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52692" y="4764214"/>
            <a:ext cx="108521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>
                <a:solidFill>
                  <a:srgbClr val="63748A"/>
                </a:solidFill>
                <a:latin typeface="Tahoma"/>
                <a:cs typeface="Tahoma"/>
              </a:rPr>
              <a:t>Capstone</a:t>
            </a:r>
            <a:r>
              <a:rPr dirty="0" sz="1200" spc="-1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200" spc="35">
                <a:solidFill>
                  <a:srgbClr val="63748A"/>
                </a:solidFill>
                <a:latin typeface="Tahoma"/>
                <a:cs typeface="Tahoma"/>
              </a:rPr>
              <a:t>302D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1" name="object 11" descr="image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10143" y="4810440"/>
            <a:ext cx="128016" cy="1377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151368" y="4764214"/>
            <a:ext cx="78295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10">
                <a:solidFill>
                  <a:srgbClr val="63748A"/>
                </a:solidFill>
                <a:latin typeface="Tahoma"/>
                <a:cs typeface="Tahoma"/>
              </a:rPr>
              <a:t>10/9/2026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4415" y="2222550"/>
            <a:ext cx="960119" cy="31097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973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114">
                <a:solidFill>
                  <a:srgbClr val="0E172A"/>
                </a:solidFill>
              </a:rPr>
              <a:t>Planteamiento</a:t>
            </a:r>
            <a:r>
              <a:rPr dirty="0" sz="3900" spc="-400">
                <a:solidFill>
                  <a:srgbClr val="0E172A"/>
                </a:solidFill>
              </a:rPr>
              <a:t> </a:t>
            </a:r>
            <a:r>
              <a:rPr dirty="0" sz="3900" spc="-125">
                <a:solidFill>
                  <a:srgbClr val="0E172A"/>
                </a:solidFill>
              </a:rPr>
              <a:t>del</a:t>
            </a:r>
            <a:r>
              <a:rPr dirty="0" sz="3900" spc="-360">
                <a:solidFill>
                  <a:srgbClr val="0E172A"/>
                </a:solidFill>
              </a:rPr>
              <a:t> </a:t>
            </a:r>
            <a:r>
              <a:rPr dirty="0" sz="3900" spc="-40">
                <a:solidFill>
                  <a:srgbClr val="0E172A"/>
                </a:solidFill>
              </a:rPr>
              <a:t>Problema</a:t>
            </a:r>
            <a:endParaRPr sz="3900"/>
          </a:p>
        </p:txBody>
      </p:sp>
      <p:sp>
        <p:nvSpPr>
          <p:cNvPr id="4" name="object 4"/>
          <p:cNvSpPr txBox="1"/>
          <p:nvPr/>
        </p:nvSpPr>
        <p:spPr>
          <a:xfrm>
            <a:off x="4341748" y="3753193"/>
            <a:ext cx="3505835" cy="666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45235" marR="5080" indent="-1232535">
              <a:lnSpc>
                <a:spcPct val="127499"/>
              </a:lnSpc>
              <a:spcBef>
                <a:spcPts val="95"/>
              </a:spcBef>
            </a:pP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¿Qué</a:t>
            </a:r>
            <a:r>
              <a:rPr dirty="0" sz="1650" spc="-6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oportunidad</a:t>
            </a:r>
            <a:r>
              <a:rPr dirty="0" sz="1650" spc="-4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o</a:t>
            </a:r>
            <a:r>
              <a:rPr dirty="0" sz="1650" spc="-5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necesidad</a:t>
            </a:r>
            <a:r>
              <a:rPr dirty="0" sz="1650" spc="-4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63748A"/>
                </a:solidFill>
                <a:latin typeface="Tahoma"/>
                <a:cs typeface="Tahoma"/>
              </a:rPr>
              <a:t>hemos detectado?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5"/>
              <a:t>Planteamiento</a:t>
            </a:r>
            <a:r>
              <a:rPr dirty="0" spc="-290"/>
              <a:t> </a:t>
            </a:r>
            <a:r>
              <a:rPr dirty="0" spc="-125"/>
              <a:t>del</a:t>
            </a:r>
            <a:r>
              <a:rPr dirty="0" spc="-280"/>
              <a:t> </a:t>
            </a:r>
            <a:r>
              <a:rPr dirty="0" spc="-55"/>
              <a:t>Problema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0" y="2021344"/>
            <a:ext cx="12171045" cy="3622040"/>
            <a:chOff x="0" y="2021344"/>
            <a:chExt cx="12171045" cy="3622040"/>
          </a:xfrm>
        </p:grpSpPr>
        <p:pic>
          <p:nvPicPr>
            <p:cNvPr id="3" name="object 3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529060"/>
              <a:ext cx="12170663" cy="1141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6792" y="2021344"/>
              <a:ext cx="5285232" cy="362191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566927" y="2807919"/>
            <a:ext cx="219710" cy="1317625"/>
            <a:chOff x="566927" y="2807919"/>
            <a:chExt cx="219710" cy="1317625"/>
          </a:xfrm>
        </p:grpSpPr>
        <p:pic>
          <p:nvPicPr>
            <p:cNvPr id="8" name="object 8" descr="imag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927" y="2807919"/>
              <a:ext cx="173736" cy="173302"/>
            </a:xfrm>
            <a:prstGeom prst="rect">
              <a:avLst/>
            </a:prstGeom>
          </p:spPr>
        </p:pic>
        <p:pic>
          <p:nvPicPr>
            <p:cNvPr id="9" name="object 9" descr="imag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927" y="3942029"/>
              <a:ext cx="219456" cy="18293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54455" y="2731706"/>
            <a:ext cx="5071110" cy="357822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50800" marR="146050">
              <a:lnSpc>
                <a:spcPts val="2020"/>
              </a:lnSpc>
              <a:spcBef>
                <a:spcPts val="285"/>
              </a:spcBef>
            </a:pPr>
            <a:r>
              <a:rPr dirty="0" sz="1350" spc="-80" b="1">
                <a:solidFill>
                  <a:srgbClr val="465469"/>
                </a:solidFill>
                <a:latin typeface="Tahoma"/>
                <a:cs typeface="Tahoma"/>
              </a:rPr>
              <a:t>Contexto</a:t>
            </a:r>
            <a:r>
              <a:rPr dirty="0" sz="1350" spc="-60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350" spc="-114" b="1">
                <a:solidFill>
                  <a:srgbClr val="465469"/>
                </a:solidFill>
                <a:latin typeface="Tahoma"/>
                <a:cs typeface="Tahoma"/>
              </a:rPr>
              <a:t>actual:</a:t>
            </a:r>
            <a:r>
              <a:rPr dirty="0" sz="1350" spc="-20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800">
                <a:latin typeface="Calibri"/>
                <a:cs typeface="Calibri"/>
              </a:rPr>
              <a:t>Uso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planillas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Excel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descentralizadas </a:t>
            </a:r>
            <a:r>
              <a:rPr dirty="0" sz="1800">
                <a:latin typeface="Calibri"/>
                <a:cs typeface="Calibri"/>
              </a:rPr>
              <a:t>para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gestión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documentos</a:t>
            </a:r>
            <a:r>
              <a:rPr dirty="0" sz="1800">
                <a:latin typeface="Calibri"/>
                <a:cs typeface="Calibri"/>
              </a:rPr>
              <a:t> 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firmas,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que </a:t>
            </a:r>
            <a:r>
              <a:rPr dirty="0" sz="1800">
                <a:latin typeface="Calibri"/>
                <a:cs typeface="Calibri"/>
              </a:rPr>
              <a:t>genera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fallas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integridad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datos,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duplicidad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y </a:t>
            </a:r>
            <a:r>
              <a:rPr dirty="0" sz="1800">
                <a:latin typeface="Calibri"/>
                <a:cs typeface="Calibri"/>
              </a:rPr>
              <a:t>falta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automatización.</a:t>
            </a:r>
            <a:endParaRPr sz="1800">
              <a:latin typeface="Calibri"/>
              <a:cs typeface="Calibri"/>
            </a:endParaRPr>
          </a:p>
          <a:p>
            <a:pPr marL="97790" marR="43180" indent="-47625">
              <a:lnSpc>
                <a:spcPct val="93500"/>
              </a:lnSpc>
              <a:spcBef>
                <a:spcPts val="215"/>
              </a:spcBef>
            </a:pPr>
            <a:r>
              <a:rPr dirty="0" baseline="14403" sz="2025" spc="-112">
                <a:latin typeface="Tahoma"/>
                <a:cs typeface="Tahoma"/>
              </a:rPr>
              <a:t>.</a:t>
            </a:r>
            <a:r>
              <a:rPr dirty="0" sz="1350" spc="-75" b="1">
                <a:solidFill>
                  <a:srgbClr val="465469"/>
                </a:solidFill>
                <a:latin typeface="Tahoma"/>
                <a:cs typeface="Tahoma"/>
              </a:rPr>
              <a:t>Público </a:t>
            </a:r>
            <a:r>
              <a:rPr dirty="0" sz="1350" spc="-60" b="1">
                <a:solidFill>
                  <a:srgbClr val="465469"/>
                </a:solidFill>
                <a:latin typeface="Tahoma"/>
                <a:cs typeface="Tahoma"/>
              </a:rPr>
              <a:t>o</a:t>
            </a:r>
            <a:r>
              <a:rPr dirty="0" sz="1350" spc="-85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350" spc="-105" b="1">
                <a:solidFill>
                  <a:srgbClr val="465469"/>
                </a:solidFill>
                <a:latin typeface="Tahoma"/>
                <a:cs typeface="Tahoma"/>
              </a:rPr>
              <a:t>usuarios</a:t>
            </a:r>
            <a:r>
              <a:rPr dirty="0" sz="1350" spc="-60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350" spc="-95" b="1">
                <a:solidFill>
                  <a:srgbClr val="465469"/>
                </a:solidFill>
                <a:latin typeface="Tahoma"/>
                <a:cs typeface="Tahoma"/>
              </a:rPr>
              <a:t>afectados:</a:t>
            </a:r>
            <a:r>
              <a:rPr dirty="0" sz="1350" spc="-50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800">
                <a:latin typeface="Calibri"/>
                <a:cs typeface="Calibri"/>
              </a:rPr>
              <a:t>Equipos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operaciones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y </a:t>
            </a:r>
            <a:r>
              <a:rPr dirty="0" sz="1800">
                <a:latin typeface="Calibri"/>
                <a:cs typeface="Calibri"/>
              </a:rPr>
              <a:t>gestión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documental,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auditores </a:t>
            </a:r>
            <a:r>
              <a:rPr dirty="0" sz="1800" spc="-10">
                <a:latin typeface="Calibri"/>
                <a:cs typeface="Calibri"/>
              </a:rPr>
              <a:t>internos/externos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el </a:t>
            </a:r>
            <a:r>
              <a:rPr dirty="0" sz="1800">
                <a:latin typeface="Calibri"/>
                <a:cs typeface="Calibri"/>
              </a:rPr>
              <a:t>área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encargada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seguridad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la </a:t>
            </a:r>
            <a:r>
              <a:rPr dirty="0" sz="1800" spc="-10">
                <a:latin typeface="Calibri"/>
                <a:cs typeface="Calibri"/>
              </a:rPr>
              <a:t>información.</a:t>
            </a:r>
            <a:endParaRPr sz="1800">
              <a:latin typeface="Calibri"/>
              <a:cs typeface="Calibri"/>
            </a:endParaRPr>
          </a:p>
          <a:p>
            <a:pPr marL="50800" marR="190500">
              <a:lnSpc>
                <a:spcPct val="92600"/>
              </a:lnSpc>
              <a:spcBef>
                <a:spcPts val="1410"/>
              </a:spcBef>
            </a:pPr>
            <a:r>
              <a:rPr dirty="0" sz="1350" spc="-95" b="1">
                <a:solidFill>
                  <a:srgbClr val="465469"/>
                </a:solidFill>
                <a:latin typeface="Tahoma"/>
                <a:cs typeface="Tahoma"/>
              </a:rPr>
              <a:t>Consecuencias</a:t>
            </a:r>
            <a:r>
              <a:rPr dirty="0" sz="1350" spc="-60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350" spc="-80" b="1">
                <a:solidFill>
                  <a:srgbClr val="465469"/>
                </a:solidFill>
                <a:latin typeface="Tahoma"/>
                <a:cs typeface="Tahoma"/>
              </a:rPr>
              <a:t>e </a:t>
            </a:r>
            <a:r>
              <a:rPr dirty="0" sz="1350" spc="-105" b="1">
                <a:solidFill>
                  <a:srgbClr val="465469"/>
                </a:solidFill>
                <a:latin typeface="Tahoma"/>
                <a:cs typeface="Tahoma"/>
              </a:rPr>
              <a:t>impacto:</a:t>
            </a:r>
            <a:r>
              <a:rPr dirty="0" sz="1350" spc="-50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800">
                <a:latin typeface="Calibri"/>
                <a:cs typeface="Calibri"/>
              </a:rPr>
              <a:t>Riesgo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alto de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alteración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no </a:t>
            </a:r>
            <a:r>
              <a:rPr dirty="0" sz="1800">
                <a:latin typeface="Calibri"/>
                <a:cs typeface="Calibri"/>
              </a:rPr>
              <a:t>autorizada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registros,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demoras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validación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de </a:t>
            </a:r>
            <a:r>
              <a:rPr dirty="0" sz="1800">
                <a:latin typeface="Calibri"/>
                <a:cs typeface="Calibri"/>
              </a:rPr>
              <a:t>firmas,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falta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trazabilidad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histórica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</a:t>
            </a:r>
            <a:r>
              <a:rPr dirty="0" sz="1800" i="1">
                <a:latin typeface="Calibri"/>
                <a:cs typeface="Calibri"/>
              </a:rPr>
              <a:t>logs</a:t>
            </a:r>
            <a:r>
              <a:rPr dirty="0" sz="1800">
                <a:latin typeface="Calibri"/>
                <a:cs typeface="Calibri"/>
              </a:rPr>
              <a:t>)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y </a:t>
            </a:r>
            <a:r>
              <a:rPr dirty="0" sz="1800">
                <a:latin typeface="Calibri"/>
                <a:cs typeface="Calibri"/>
              </a:rPr>
              <a:t>potencial</a:t>
            </a:r>
            <a:r>
              <a:rPr dirty="0" sz="1800" spc="-10">
                <a:latin typeface="Calibri"/>
                <a:cs typeface="Calibri"/>
              </a:rPr>
              <a:t> incumplimiento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normativas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de </a:t>
            </a:r>
            <a:r>
              <a:rPr dirty="0" sz="1800" spc="-10">
                <a:latin typeface="Calibri"/>
                <a:cs typeface="Calibri"/>
              </a:rPr>
              <a:t>auditoría.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4415" y="2222550"/>
            <a:ext cx="960119" cy="310972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3236848" y="2727071"/>
            <a:ext cx="5718175" cy="619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900" spc="-135">
                <a:solidFill>
                  <a:srgbClr val="0E172A"/>
                </a:solidFill>
                <a:latin typeface="Arial Black"/>
                <a:cs typeface="Arial Black"/>
              </a:rPr>
              <a:t>Objetivos</a:t>
            </a:r>
            <a:r>
              <a:rPr dirty="0" sz="3900" spc="-415">
                <a:solidFill>
                  <a:srgbClr val="0E172A"/>
                </a:solidFill>
                <a:latin typeface="Arial Black"/>
                <a:cs typeface="Arial Black"/>
              </a:rPr>
              <a:t> </a:t>
            </a:r>
            <a:r>
              <a:rPr dirty="0" sz="3900" spc="-125">
                <a:solidFill>
                  <a:srgbClr val="0E172A"/>
                </a:solidFill>
                <a:latin typeface="Arial Black"/>
                <a:cs typeface="Arial Black"/>
              </a:rPr>
              <a:t>del</a:t>
            </a:r>
            <a:r>
              <a:rPr dirty="0" sz="3900" spc="-465">
                <a:solidFill>
                  <a:srgbClr val="0E172A"/>
                </a:solidFill>
                <a:latin typeface="Arial Black"/>
                <a:cs typeface="Arial Black"/>
              </a:rPr>
              <a:t> </a:t>
            </a:r>
            <a:r>
              <a:rPr dirty="0" sz="3900" spc="-125">
                <a:solidFill>
                  <a:srgbClr val="0E172A"/>
                </a:solidFill>
                <a:latin typeface="Arial Black"/>
                <a:cs typeface="Arial Black"/>
              </a:rPr>
              <a:t>Proyecto</a:t>
            </a:r>
            <a:endParaRPr sz="39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8636" y="3753193"/>
            <a:ext cx="3013710" cy="666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00100" marR="5080" indent="-788035">
              <a:lnSpc>
                <a:spcPct val="127499"/>
              </a:lnSpc>
              <a:spcBef>
                <a:spcPts val="95"/>
              </a:spcBef>
            </a:pP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¿Qué</a:t>
            </a:r>
            <a:r>
              <a:rPr dirty="0" sz="1650" spc="-7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63748A"/>
                </a:solidFill>
                <a:latin typeface="Tahoma"/>
                <a:cs typeface="Tahoma"/>
              </a:rPr>
              <a:t>buscamos</a:t>
            </a:r>
            <a:r>
              <a:rPr dirty="0" sz="1650" spc="-5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 spc="-20">
                <a:solidFill>
                  <a:srgbClr val="63748A"/>
                </a:solidFill>
                <a:latin typeface="Tahoma"/>
                <a:cs typeface="Tahoma"/>
              </a:rPr>
              <a:t>lograr</a:t>
            </a:r>
            <a:r>
              <a:rPr dirty="0" sz="1650" spc="-8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y</a:t>
            </a:r>
            <a:r>
              <a:rPr dirty="0" sz="1650" spc="-5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cómo</a:t>
            </a:r>
            <a:r>
              <a:rPr dirty="0" sz="1650" spc="-5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 spc="-25">
                <a:solidFill>
                  <a:srgbClr val="63748A"/>
                </a:solidFill>
                <a:latin typeface="Tahoma"/>
                <a:cs typeface="Tahoma"/>
              </a:rPr>
              <a:t>lo </a:t>
            </a:r>
            <a:r>
              <a:rPr dirty="0" sz="1650" spc="-10">
                <a:solidFill>
                  <a:srgbClr val="63748A"/>
                </a:solidFill>
                <a:latin typeface="Tahoma"/>
                <a:cs typeface="Tahoma"/>
              </a:rPr>
              <a:t>estructuramos?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88" y="0"/>
            <a:ext cx="12171045" cy="6858000"/>
            <a:chOff x="18288" y="0"/>
            <a:chExt cx="12171045" cy="6858000"/>
          </a:xfrm>
        </p:grpSpPr>
        <p:pic>
          <p:nvPicPr>
            <p:cNvPr id="3" name="object 3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88" y="0"/>
              <a:ext cx="12170664" cy="6858000"/>
            </a:xfrm>
            <a:prstGeom prst="rect">
              <a:avLst/>
            </a:prstGeom>
          </p:spPr>
        </p:pic>
        <p:pic>
          <p:nvPicPr>
            <p:cNvPr id="4" name="object 4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303" y="1628013"/>
              <a:ext cx="11045952" cy="2926842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58952" y="436626"/>
            <a:ext cx="2994660" cy="44323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10"/>
              <a:t>Objetivo</a:t>
            </a:r>
            <a:r>
              <a:rPr dirty="0" spc="-310"/>
              <a:t> </a:t>
            </a:r>
            <a:r>
              <a:rPr dirty="0" spc="-90"/>
              <a:t>General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-160"/>
              <a:t>PROPÓSITO</a:t>
            </a:r>
            <a:r>
              <a:rPr dirty="0" spc="-95"/>
              <a:t> </a:t>
            </a:r>
            <a:r>
              <a:rPr dirty="0" spc="-45"/>
              <a:t>CENTRAL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</a:p>
          <a:p>
            <a:pPr marL="365125" marR="269240" indent="-343535">
              <a:lnSpc>
                <a:spcPts val="2380"/>
              </a:lnSpc>
              <a:buFont typeface="Arial MT"/>
              <a:buChar char="•"/>
              <a:tabLst>
                <a:tab pos="365125" algn="l"/>
              </a:tabLst>
            </a:pP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Desarrollar</a:t>
            </a:r>
            <a:r>
              <a:rPr dirty="0" sz="2000" spc="-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dirty="0" sz="2000" spc="-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implementar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un</a:t>
            </a:r>
            <a:r>
              <a:rPr dirty="0" sz="2000" spc="-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sistema</a:t>
            </a:r>
            <a:r>
              <a:rPr dirty="0" sz="2000" spc="-3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dirty="0" sz="2000" spc="-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automatización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dirty="0" sz="2000" spc="-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firmas</a:t>
            </a:r>
            <a:r>
              <a:rPr dirty="0" sz="2000" spc="-2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digitales</a:t>
            </a:r>
            <a:r>
              <a:rPr dirty="0" sz="2000" spc="-2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dirty="0" sz="2000" spc="-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migración</a:t>
            </a:r>
            <a:r>
              <a:rPr dirty="0" sz="2000" spc="-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000000"/>
                </a:solidFill>
                <a:latin typeface="Calibri"/>
                <a:cs typeface="Calibri"/>
              </a:rPr>
              <a:t>de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datos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z="2000" spc="-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una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base</a:t>
            </a:r>
            <a:r>
              <a:rPr dirty="0" sz="2000" spc="-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dirty="0" sz="2000" spc="-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datos relacional</a:t>
            </a:r>
            <a:r>
              <a:rPr dirty="0" sz="2000" spc="-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Oracle</a:t>
            </a:r>
            <a:r>
              <a:rPr dirty="0" sz="2000" spc="-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(Python</a:t>
            </a:r>
            <a:r>
              <a:rPr dirty="0" sz="2000" spc="-9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+</a:t>
            </a:r>
            <a:r>
              <a:rPr dirty="0" sz="2000" spc="-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PL/SQL)</a:t>
            </a:r>
            <a:endParaRPr sz="2000">
              <a:latin typeface="Calibri"/>
              <a:cs typeface="Calibri"/>
            </a:endParaRPr>
          </a:p>
          <a:p>
            <a:pPr marL="365125" marR="5080" indent="-343535">
              <a:lnSpc>
                <a:spcPts val="2380"/>
              </a:lnSpc>
              <a:spcBef>
                <a:spcPts val="70"/>
              </a:spcBef>
              <a:buFont typeface="Arial MT"/>
              <a:buChar char="•"/>
              <a:tabLst>
                <a:tab pos="365125" algn="l"/>
              </a:tabLst>
            </a:pP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Eliminar</a:t>
            </a:r>
            <a:r>
              <a:rPr dirty="0" sz="2000" spc="-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dirty="0" sz="2000" spc="-2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vulnerabilidad,</a:t>
            </a:r>
            <a:r>
              <a:rPr dirty="0" sz="2000" spc="-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falta</a:t>
            </a:r>
            <a:r>
              <a:rPr dirty="0" sz="2000" spc="-6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dirty="0" sz="2000" spc="-7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trazabilidad</a:t>
            </a:r>
            <a:r>
              <a:rPr dirty="0" sz="2000" spc="-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dirty="0" sz="2000" spc="-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ineficiencia de</a:t>
            </a:r>
            <a:r>
              <a:rPr dirty="0" sz="2000" spc="-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dirty="0" sz="2000" spc="-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gestión</a:t>
            </a:r>
            <a:r>
              <a:rPr dirty="0" sz="2000" spc="-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documental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 basada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en</a:t>
            </a:r>
            <a:r>
              <a:rPr dirty="0" sz="2000" spc="-3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planillas</a:t>
            </a:r>
            <a:r>
              <a:rPr dirty="0" sz="2000" spc="-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Excel</a:t>
            </a:r>
            <a:endParaRPr sz="2000">
              <a:latin typeface="Calibri"/>
              <a:cs typeface="Calibri"/>
            </a:endParaRPr>
          </a:p>
          <a:p>
            <a:pPr marL="365125" indent="-343535">
              <a:lnSpc>
                <a:spcPts val="2305"/>
              </a:lnSpc>
              <a:buFont typeface="Arial MT"/>
              <a:buChar char="•"/>
              <a:tabLst>
                <a:tab pos="365125" algn="l"/>
              </a:tabLst>
            </a:pP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Los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 departamentos</a:t>
            </a:r>
            <a:r>
              <a:rPr dirty="0" sz="2000" spc="-3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operativos,</a:t>
            </a:r>
            <a:r>
              <a:rPr dirty="0" sz="2000" spc="-2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auditores</a:t>
            </a:r>
            <a:r>
              <a:rPr dirty="0" sz="2000" spc="-2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dirty="0" sz="2000" spc="-2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áreas</a:t>
            </a:r>
            <a:r>
              <a:rPr dirty="0" sz="2000" spc="-3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TI</a:t>
            </a:r>
            <a:r>
              <a:rPr dirty="0" sz="2000" spc="-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dirty="0" sz="2000" spc="-3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dirty="0" sz="2000" spc="-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Calibri"/>
                <a:cs typeface="Calibri"/>
              </a:rPr>
              <a:t>organización</a:t>
            </a:r>
            <a:endParaRPr sz="2000">
              <a:latin typeface="Calibri"/>
              <a:cs typeface="Calibri"/>
            </a:endParaRPr>
          </a:p>
          <a:p>
            <a:pPr marL="365125" indent="-34353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65125" algn="l"/>
              </a:tabLst>
            </a:pPr>
            <a:r>
              <a:rPr dirty="0" sz="1800">
                <a:solidFill>
                  <a:srgbClr val="000000"/>
                </a:solidFill>
                <a:latin typeface="Calibri"/>
                <a:cs typeface="Calibri"/>
              </a:rPr>
              <a:t>16</a:t>
            </a:r>
            <a:r>
              <a:rPr dirty="0" sz="1800" spc="-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0"/>
                </a:solidFill>
                <a:latin typeface="Calibri"/>
                <a:cs typeface="Calibri"/>
              </a:rPr>
              <a:t>semanas (1</a:t>
            </a:r>
            <a:r>
              <a:rPr dirty="0" sz="1800" spc="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0"/>
                </a:solidFill>
                <a:latin typeface="Calibri"/>
                <a:cs typeface="Calibri"/>
              </a:rPr>
              <a:t>semestre</a:t>
            </a:r>
            <a:r>
              <a:rPr dirty="0" sz="1800" spc="-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  <a:latin typeface="Calibri"/>
                <a:cs typeface="Calibri"/>
              </a:rPr>
              <a:t>académico)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67512" y="1765249"/>
            <a:ext cx="7781925" cy="3457575"/>
            <a:chOff x="667512" y="1765249"/>
            <a:chExt cx="7781925" cy="3457575"/>
          </a:xfrm>
        </p:grpSpPr>
        <p:pic>
          <p:nvPicPr>
            <p:cNvPr id="8" name="object 8" descr="imag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512" y="1765249"/>
              <a:ext cx="191588" cy="192074"/>
            </a:xfrm>
            <a:prstGeom prst="rect">
              <a:avLst/>
            </a:prstGeom>
          </p:spPr>
        </p:pic>
        <p:pic>
          <p:nvPicPr>
            <p:cNvPr id="9" name="object 9" descr="imag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8096" y="5039565"/>
              <a:ext cx="192023" cy="182928"/>
            </a:xfrm>
            <a:prstGeom prst="rect">
              <a:avLst/>
            </a:prstGeom>
          </p:spPr>
        </p:pic>
        <p:pic>
          <p:nvPicPr>
            <p:cNvPr id="10" name="object 10" descr="image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7135" y="5031765"/>
              <a:ext cx="192024" cy="190728"/>
            </a:xfrm>
            <a:prstGeom prst="rect">
              <a:avLst/>
            </a:prstGeom>
          </p:spPr>
        </p:pic>
        <p:pic>
          <p:nvPicPr>
            <p:cNvPr id="11" name="object 11" descr="image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4884" y="5030419"/>
              <a:ext cx="174171" cy="19207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64082" y="5024691"/>
            <a:ext cx="1998345" cy="395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solidFill>
                  <a:srgbClr val="465469"/>
                </a:solidFill>
                <a:latin typeface="Tahoma"/>
                <a:cs typeface="Tahoma"/>
              </a:rPr>
              <a:t>C</a:t>
            </a:r>
            <a:r>
              <a:rPr dirty="0" sz="1200" spc="-75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 spc="-95" b="1">
                <a:solidFill>
                  <a:srgbClr val="465469"/>
                </a:solidFill>
                <a:latin typeface="Tahoma"/>
                <a:cs typeface="Tahoma"/>
              </a:rPr>
              <a:t>laro:</a:t>
            </a:r>
            <a:r>
              <a:rPr dirty="0" sz="1200" spc="-45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65469"/>
                </a:solidFill>
                <a:latin typeface="Tahoma"/>
                <a:cs typeface="Tahoma"/>
              </a:rPr>
              <a:t>Responde</a:t>
            </a:r>
            <a:r>
              <a:rPr dirty="0" sz="1200" spc="-65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65469"/>
                </a:solidFill>
                <a:latin typeface="Tahoma"/>
                <a:cs typeface="Tahoma"/>
              </a:rPr>
              <a:t>al</a:t>
            </a:r>
            <a:r>
              <a:rPr dirty="0" sz="1200" spc="-35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65469"/>
                </a:solidFill>
                <a:latin typeface="Tahoma"/>
                <a:cs typeface="Tahoma"/>
              </a:rPr>
              <a:t>problema central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87010" y="4987861"/>
            <a:ext cx="2268855" cy="395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1200" spc="-85" b="1">
                <a:solidFill>
                  <a:srgbClr val="465469"/>
                </a:solidFill>
                <a:latin typeface="Tahoma"/>
                <a:cs typeface="Tahoma"/>
              </a:rPr>
              <a:t>Alcanzable:</a:t>
            </a:r>
            <a:r>
              <a:rPr dirty="0" sz="1200" spc="25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65469"/>
                </a:solidFill>
                <a:latin typeface="Tahoma"/>
                <a:cs typeface="Tahoma"/>
              </a:rPr>
              <a:t>Delimitado</a:t>
            </a:r>
            <a:r>
              <a:rPr dirty="0" sz="1200" spc="1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465469"/>
                </a:solidFill>
                <a:latin typeface="Tahoma"/>
                <a:cs typeface="Tahoma"/>
              </a:rPr>
              <a:t>al</a:t>
            </a:r>
            <a:r>
              <a:rPr dirty="0" sz="1200" spc="-3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65469"/>
                </a:solidFill>
                <a:latin typeface="Tahoma"/>
                <a:cs typeface="Tahoma"/>
              </a:rPr>
              <a:t>alcance </a:t>
            </a:r>
            <a:r>
              <a:rPr dirty="0" sz="1200" spc="-20">
                <a:solidFill>
                  <a:srgbClr val="465469"/>
                </a:solidFill>
                <a:latin typeface="Tahoma"/>
                <a:cs typeface="Tahoma"/>
              </a:rPr>
              <a:t>real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60943" y="4934458"/>
            <a:ext cx="2337435" cy="395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1200" spc="-70" b="1">
                <a:solidFill>
                  <a:srgbClr val="465469"/>
                </a:solidFill>
                <a:latin typeface="Tahoma"/>
                <a:cs typeface="Tahoma"/>
              </a:rPr>
              <a:t>Medible:</a:t>
            </a:r>
            <a:r>
              <a:rPr dirty="0" sz="1200" spc="-40" b="1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65469"/>
                </a:solidFill>
                <a:latin typeface="Tahoma"/>
                <a:cs typeface="Tahoma"/>
              </a:rPr>
              <a:t>Orientado</a:t>
            </a:r>
            <a:r>
              <a:rPr dirty="0" sz="1200" spc="-35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65469"/>
                </a:solidFill>
                <a:latin typeface="Tahoma"/>
                <a:cs typeface="Tahoma"/>
              </a:rPr>
              <a:t>a</a:t>
            </a:r>
            <a:r>
              <a:rPr dirty="0" sz="1200" spc="-2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65469"/>
                </a:solidFill>
                <a:latin typeface="Tahoma"/>
                <a:cs typeface="Tahoma"/>
              </a:rPr>
              <a:t>un</a:t>
            </a:r>
            <a:r>
              <a:rPr dirty="0" sz="1200" spc="-25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65469"/>
                </a:solidFill>
                <a:latin typeface="Tahoma"/>
                <a:cs typeface="Tahoma"/>
              </a:rPr>
              <a:t>resultado concreto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20"/>
              <a:t>Objetivos</a:t>
            </a:r>
            <a:r>
              <a:rPr dirty="0" spc="-275"/>
              <a:t> </a:t>
            </a:r>
            <a:r>
              <a:rPr dirty="0" spc="-155"/>
              <a:t>Específicos</a:t>
            </a:r>
          </a:p>
        </p:txBody>
      </p:sp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927" y="2707385"/>
            <a:ext cx="3529584" cy="2259076"/>
          </a:xfrm>
          <a:prstGeom prst="rect">
            <a:avLst/>
          </a:prstGeom>
        </p:spPr>
      </p:pic>
      <p:pic>
        <p:nvPicPr>
          <p:cNvPr id="5" name="object 5" descr="imag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3816" y="3027464"/>
            <a:ext cx="338328" cy="347560"/>
          </a:xfrm>
          <a:prstGeom prst="rect">
            <a:avLst/>
          </a:prstGeom>
        </p:spPr>
      </p:pic>
      <p:pic>
        <p:nvPicPr>
          <p:cNvPr id="3" name="object 3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4255" y="2707385"/>
            <a:ext cx="3520440" cy="2259076"/>
          </a:xfrm>
          <a:prstGeom prst="rect">
            <a:avLst/>
          </a:prstGeom>
        </p:spPr>
      </p:pic>
      <p:pic>
        <p:nvPicPr>
          <p:cNvPr id="6" name="object 6" descr="image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3027464"/>
            <a:ext cx="338327" cy="347560"/>
          </a:xfrm>
          <a:prstGeom prst="rect">
            <a:avLst/>
          </a:prstGeom>
        </p:spPr>
      </p:pic>
      <p:pic>
        <p:nvPicPr>
          <p:cNvPr id="4" name="object 4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2440" y="2707385"/>
            <a:ext cx="3529584" cy="2259076"/>
          </a:xfrm>
          <a:prstGeom prst="rect">
            <a:avLst/>
          </a:prstGeom>
        </p:spPr>
      </p:pic>
      <p:pic>
        <p:nvPicPr>
          <p:cNvPr id="7" name="object 7" descr="image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30183" y="3027464"/>
            <a:ext cx="347472" cy="34756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97331" y="3537013"/>
            <a:ext cx="3049905" cy="10172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75">
                <a:solidFill>
                  <a:srgbClr val="1E293A"/>
                </a:solidFill>
                <a:latin typeface="Arial Black"/>
                <a:cs typeface="Arial Black"/>
              </a:rPr>
              <a:t>Diagnóstico</a:t>
            </a:r>
            <a:r>
              <a:rPr dirty="0" sz="1650" spc="-135">
                <a:solidFill>
                  <a:srgbClr val="1E293A"/>
                </a:solidFill>
                <a:latin typeface="Arial Black"/>
                <a:cs typeface="Arial Black"/>
              </a:rPr>
              <a:t> </a:t>
            </a:r>
            <a:r>
              <a:rPr dirty="0" sz="1650" spc="-20">
                <a:solidFill>
                  <a:srgbClr val="1E293A"/>
                </a:solidFill>
                <a:latin typeface="Arial Black"/>
                <a:cs typeface="Arial Black"/>
              </a:rPr>
              <a:t>y</a:t>
            </a:r>
            <a:r>
              <a:rPr dirty="0" sz="1650" spc="-150">
                <a:solidFill>
                  <a:srgbClr val="1E293A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1E293A"/>
                </a:solidFill>
                <a:latin typeface="Arial Black"/>
                <a:cs typeface="Arial Black"/>
              </a:rPr>
              <a:t>Análisis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490"/>
              </a:spcBef>
            </a:pPr>
            <a:r>
              <a:rPr dirty="0" sz="1200" b="1">
                <a:latin typeface="Calibri"/>
                <a:cs typeface="Calibri"/>
              </a:rPr>
              <a:t>Analizar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fuentes de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Excel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definir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requerimientos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seguridad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 </a:t>
            </a:r>
            <a:r>
              <a:rPr dirty="0" sz="1200" spc="-10">
                <a:latin typeface="Calibri"/>
                <a:cs typeface="Calibri"/>
              </a:rPr>
              <a:t>estructurar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modelo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relacional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Oracle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matriz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RBAC.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61459" y="3537013"/>
            <a:ext cx="3010535" cy="12007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80">
                <a:solidFill>
                  <a:srgbClr val="1E293A"/>
                </a:solidFill>
                <a:latin typeface="Arial Black"/>
                <a:cs typeface="Arial Black"/>
              </a:rPr>
              <a:t>Diseño</a:t>
            </a:r>
            <a:r>
              <a:rPr dirty="0" sz="1650" spc="-145">
                <a:solidFill>
                  <a:srgbClr val="1E293A"/>
                </a:solidFill>
                <a:latin typeface="Arial Black"/>
                <a:cs typeface="Arial Black"/>
              </a:rPr>
              <a:t> </a:t>
            </a:r>
            <a:r>
              <a:rPr dirty="0" sz="1650" spc="-20">
                <a:solidFill>
                  <a:srgbClr val="1E293A"/>
                </a:solidFill>
                <a:latin typeface="Arial Black"/>
                <a:cs typeface="Arial Black"/>
              </a:rPr>
              <a:t>y</a:t>
            </a:r>
            <a:r>
              <a:rPr dirty="0" sz="1650" spc="-160">
                <a:solidFill>
                  <a:srgbClr val="1E293A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1E293A"/>
                </a:solidFill>
                <a:latin typeface="Arial Black"/>
                <a:cs typeface="Arial Black"/>
              </a:rPr>
              <a:t>Desarrollo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490"/>
              </a:spcBef>
            </a:pPr>
            <a:r>
              <a:rPr dirty="0" sz="1200" b="1">
                <a:latin typeface="Calibri"/>
                <a:cs typeface="Calibri"/>
              </a:rPr>
              <a:t>Construir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 pipeline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ETL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Python 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programar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lógica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 PL/SQL </a:t>
            </a:r>
            <a:r>
              <a:rPr dirty="0" sz="1200" spc="-10">
                <a:latin typeface="Calibri"/>
                <a:cs typeface="Calibri"/>
              </a:rPr>
              <a:t>(</a:t>
            </a:r>
            <a:r>
              <a:rPr dirty="0" sz="1200" spc="-10" i="1">
                <a:latin typeface="Calibri"/>
                <a:cs typeface="Calibri"/>
              </a:rPr>
              <a:t>Triggers</a:t>
            </a:r>
            <a:r>
              <a:rPr dirty="0" sz="1200" spc="-40" i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auditoría)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para </a:t>
            </a:r>
            <a:r>
              <a:rPr dirty="0" sz="1200" spc="-10">
                <a:latin typeface="Calibri"/>
                <a:cs typeface="Calibri"/>
              </a:rPr>
              <a:t>automatizar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migración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 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flujo</a:t>
            </a:r>
            <a:r>
              <a:rPr dirty="0" sz="1200" spc="-25">
                <a:latin typeface="Calibri"/>
                <a:cs typeface="Calibri"/>
              </a:rPr>
              <a:t> de </a:t>
            </a:r>
            <a:r>
              <a:rPr dirty="0" sz="1200" spc="-10">
                <a:latin typeface="Calibri"/>
                <a:cs typeface="Calibri"/>
              </a:rPr>
              <a:t>firmas.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25993" y="3537013"/>
            <a:ext cx="2762250" cy="12007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65">
                <a:solidFill>
                  <a:srgbClr val="1E293A"/>
                </a:solidFill>
                <a:latin typeface="Arial Black"/>
                <a:cs typeface="Arial Black"/>
              </a:rPr>
              <a:t>Validación</a:t>
            </a:r>
            <a:r>
              <a:rPr dirty="0" sz="1650" spc="-105">
                <a:solidFill>
                  <a:srgbClr val="1E293A"/>
                </a:solidFill>
                <a:latin typeface="Arial Black"/>
                <a:cs typeface="Arial Black"/>
              </a:rPr>
              <a:t> </a:t>
            </a:r>
            <a:r>
              <a:rPr dirty="0" sz="1650" spc="-20">
                <a:solidFill>
                  <a:srgbClr val="1E293A"/>
                </a:solidFill>
                <a:latin typeface="Arial Black"/>
                <a:cs typeface="Arial Black"/>
              </a:rPr>
              <a:t>y</a:t>
            </a:r>
            <a:r>
              <a:rPr dirty="0" sz="1650" spc="-155">
                <a:solidFill>
                  <a:srgbClr val="1E293A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1E293A"/>
                </a:solidFill>
                <a:latin typeface="Arial Black"/>
                <a:cs typeface="Arial Black"/>
              </a:rPr>
              <a:t>Evaluación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490"/>
              </a:spcBef>
            </a:pPr>
            <a:r>
              <a:rPr dirty="0" sz="1200" b="1">
                <a:latin typeface="Calibri"/>
                <a:cs typeface="Calibri"/>
              </a:rPr>
              <a:t>Ejecutar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pruebas funcionales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seguridad </a:t>
            </a:r>
            <a:r>
              <a:rPr dirty="0" sz="1200">
                <a:latin typeface="Calibri"/>
                <a:cs typeface="Calibri"/>
              </a:rPr>
              <a:t>(QA)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validar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integridad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datos </a:t>
            </a:r>
            <a:r>
              <a:rPr dirty="0" sz="1200">
                <a:latin typeface="Calibri"/>
                <a:cs typeface="Calibri"/>
              </a:rPr>
              <a:t>migrados,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inmutabilidad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el </a:t>
            </a:r>
            <a:r>
              <a:rPr dirty="0" sz="1200" spc="-10">
                <a:latin typeface="Calibri"/>
                <a:cs typeface="Calibri"/>
              </a:rPr>
              <a:t>rendimiento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sistema.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873760">
              <a:lnSpc>
                <a:spcPct val="100000"/>
              </a:lnSpc>
              <a:spcBef>
                <a:spcPts val="130"/>
              </a:spcBef>
            </a:pPr>
            <a:r>
              <a:rPr dirty="0" sz="4800" spc="-50">
                <a:solidFill>
                  <a:srgbClr val="0E172A"/>
                </a:solidFill>
              </a:rPr>
              <a:t>¡Muchas</a:t>
            </a:r>
            <a:r>
              <a:rPr dirty="0" sz="4800" spc="-560">
                <a:solidFill>
                  <a:srgbClr val="0E172A"/>
                </a:solidFill>
              </a:rPr>
              <a:t> </a:t>
            </a:r>
            <a:r>
              <a:rPr dirty="0" sz="4800" spc="-85">
                <a:solidFill>
                  <a:srgbClr val="0E172A"/>
                </a:solidFill>
              </a:rPr>
              <a:t>Gracias!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4236720" y="3448011"/>
            <a:ext cx="3724275" cy="666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50645" marR="5080" indent="-1338580">
              <a:lnSpc>
                <a:spcPct val="127499"/>
              </a:lnSpc>
              <a:spcBef>
                <a:spcPts val="95"/>
              </a:spcBef>
            </a:pPr>
            <a:r>
              <a:rPr dirty="0" sz="1650" spc="-10">
                <a:solidFill>
                  <a:srgbClr val="63748A"/>
                </a:solidFill>
                <a:latin typeface="Tahoma"/>
                <a:cs typeface="Tahoma"/>
              </a:rPr>
              <a:t>¿Preguntas</a:t>
            </a:r>
            <a:r>
              <a:rPr dirty="0" sz="1650" spc="-10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o</a:t>
            </a:r>
            <a:r>
              <a:rPr dirty="0" sz="1650" spc="-2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comentarios</a:t>
            </a:r>
            <a:r>
              <a:rPr dirty="0" sz="1650" spc="-105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63748A"/>
                </a:solidFill>
                <a:latin typeface="Tahoma"/>
                <a:cs typeface="Tahoma"/>
              </a:rPr>
              <a:t>sobre</a:t>
            </a:r>
            <a:r>
              <a:rPr dirty="0" sz="1650" spc="-30">
                <a:solidFill>
                  <a:srgbClr val="63748A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63748A"/>
                </a:solidFill>
                <a:latin typeface="Tahoma"/>
                <a:cs typeface="Tahoma"/>
              </a:rPr>
              <a:t>nuestra propuesta?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8952" y="436626"/>
            <a:ext cx="2665095" cy="44323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75"/>
              <a:t>Image</a:t>
            </a:r>
            <a:r>
              <a:rPr dirty="0" spc="-340"/>
              <a:t> </a:t>
            </a:r>
            <a:r>
              <a:rPr dirty="0" spc="-140"/>
              <a:t>Sources</a:t>
            </a:r>
          </a:p>
        </p:txBody>
      </p:sp>
      <p:pic>
        <p:nvPicPr>
          <p:cNvPr id="3" name="object 3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064" y="3594493"/>
            <a:ext cx="859536" cy="4756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41548" y="3548328"/>
            <a:ext cx="7807325" cy="511809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000" spc="-1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https://flexi-project.com/wp-</a:t>
            </a:r>
            <a:r>
              <a:rPr dirty="0" sz="100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content/uploads/2026/02/5-</a:t>
            </a:r>
            <a:r>
              <a:rPr dirty="0" sz="1000" spc="-1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whys-</a:t>
            </a:r>
            <a:r>
              <a:rPr dirty="0" sz="1000" spc="-2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method-</a:t>
            </a:r>
            <a:r>
              <a:rPr dirty="0" sz="1000" spc="-35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a-</a:t>
            </a:r>
            <a:r>
              <a:rPr dirty="0" sz="1000" spc="-2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simple-</a:t>
            </a:r>
            <a:r>
              <a:rPr dirty="0" sz="1000" spc="-1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technique-</a:t>
            </a:r>
            <a:r>
              <a:rPr dirty="0" sz="100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to-</a:t>
            </a:r>
            <a:r>
              <a:rPr dirty="0" sz="1000" spc="-25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reach-</a:t>
            </a:r>
            <a:r>
              <a:rPr dirty="0" sz="1000" spc="-1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the-</a:t>
            </a:r>
            <a:r>
              <a:rPr dirty="0" sz="100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root-of-</a:t>
            </a:r>
            <a:r>
              <a:rPr dirty="0" sz="1000" spc="-35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a-</a:t>
            </a:r>
            <a:r>
              <a:rPr dirty="0" sz="1000" spc="-2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problem-</a:t>
            </a:r>
            <a:r>
              <a:rPr dirty="0" sz="1000" spc="-10">
                <a:solidFill>
                  <a:srgbClr val="465469"/>
                </a:solidFill>
                <a:latin typeface="Tahoma"/>
                <a:cs typeface="Tahoma"/>
                <a:hlinkClick r:id="rId3"/>
              </a:rPr>
              <a:t>1024x768.webp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200" spc="-20">
                <a:solidFill>
                  <a:srgbClr val="465469"/>
                </a:solidFill>
                <a:latin typeface="Tahoma"/>
                <a:cs typeface="Tahoma"/>
              </a:rPr>
              <a:t>Source:</a:t>
            </a:r>
            <a:r>
              <a:rPr dirty="0" sz="1200" spc="25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4F46E4"/>
                </a:solidFill>
                <a:latin typeface="Tahoma"/>
                <a:cs typeface="Tahoma"/>
              </a:rPr>
              <a:t>flexi-</a:t>
            </a:r>
            <a:r>
              <a:rPr dirty="0" sz="1200" spc="-10">
                <a:solidFill>
                  <a:srgbClr val="4F46E4"/>
                </a:solidFill>
                <a:latin typeface="Tahoma"/>
                <a:cs typeface="Tahoma"/>
              </a:rPr>
              <a:t>project.com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546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☣️αηοηγΜουs 🚫㊗️</dc:creator>
  <dc:title>PowerPoint Presentation</dc:title>
  <dcterms:created xsi:type="dcterms:W3CDTF">2026-09-22T16:03:25Z</dcterms:created>
  <dcterms:modified xsi:type="dcterms:W3CDTF">2026-09-22T16:03:25Z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2026-09-10T00:00:00Z</vt:filetime>
  </property>
  <property fmtid="{D5CDD505-2E9C-101B-9397-08002B2CF9AE}" pid="4" name="LastSaved">
    <vt:filetime>2026-09-22T00:00:00Z</vt:filetime>
  </property>
</Properties>
</file>